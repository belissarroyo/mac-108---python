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embeddedFontLst>
    <p:embeddedFont>
      <p:font typeface="Fira Code" panose="020F0502020204030204" pitchFamily="49" charset="0"/>
      <p:regular r:id="rId30"/>
      <p:bold r:id="rId31"/>
    </p:embeddedFont>
    <p:embeddedFont>
      <p:font typeface="Fira Code SemiBold" panose="020B0604020202020204" charset="0"/>
      <p:regular r:id="rId32"/>
      <p:bold r:id="rId33"/>
    </p:embeddedFont>
    <p:embeddedFont>
      <p:font typeface="Inter" panose="020B0604020202020204" charset="0"/>
      <p:regular r:id="rId34"/>
      <p:bold r:id="rId35"/>
      <p:italic r:id="rId36"/>
      <p:boldItalic r:id="rId37"/>
    </p:embeddedFont>
    <p:embeddedFont>
      <p:font typeface="Inter Light" panose="020B0604020202020204" charset="0"/>
      <p:regular r:id="rId38"/>
      <p:bold r:id="rId39"/>
      <p:italic r:id="rId40"/>
      <p:boldItalic r:id="rId41"/>
    </p:embeddedFont>
    <p:embeddedFont>
      <p:font typeface="Inter SemiBold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A3EE34-B5BF-4D82-8C34-A714852E73F8}">
  <a:tblStyle styleId="{40A3EE34-B5BF-4D82-8C34-A714852E73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5.png"/><Relationship Id="rId10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70596" y="740752"/>
            <a:ext cx="7251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1E05A"/>
                </a:solidFill>
                <a:latin typeface="Fira Code SemiBold"/>
                <a:ea typeface="Fira Code SemiBold"/>
                <a:cs typeface="Fira Code SemiBold"/>
                <a:sym typeface="Fira Code SemiBold"/>
              </a:rPr>
              <a:t>print("Hello, World!")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470496" y="1371202"/>
            <a:ext cx="72510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MAC 108: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C9D1D9"/>
                </a:solidFill>
                <a:latin typeface="Inter"/>
                <a:ea typeface="Inter"/>
                <a:cs typeface="Inter"/>
                <a:sym typeface="Inter"/>
              </a:rPr>
              <a:t> Intro to Programming with Python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643187" y="4241452"/>
            <a:ext cx="69056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 Light"/>
                <a:ea typeface="Inter Light"/>
                <a:cs typeface="Inter Light"/>
                <a:sym typeface="Inter Light"/>
              </a:rPr>
              <a:t>LaGuardia Community College | Fall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6381750" y="2257425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Prof. Madona S. Wambua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381750" y="2743200"/>
            <a:ext cx="5229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Welcome to MAC 108! I am 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Engineering Leader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and a Google Developer Expert with a deep passion for clean code and algorithmic design.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3800475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500062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madona.wambua33@lagcc.cuny.edu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0577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Meet Your Instructor</a:t>
            </a:r>
            <a:endParaRPr/>
          </a:p>
        </p:txBody>
      </p:sp>
      <p:pic>
        <p:nvPicPr>
          <p:cNvPr id="99" name="Google Shape;99;p14" title="Madona Final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801" y="1554975"/>
            <a:ext cx="4826348" cy="4798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5715000" y="2740372"/>
            <a:ext cx="762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1700450" y="3064222"/>
            <a:ext cx="8791098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Course Logistics &amp; Syllabus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800475" y="4007197"/>
            <a:ext cx="45910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What to expect over the next 14 weeks.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28750"/>
            <a:ext cx="522922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28750"/>
            <a:ext cx="5229225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971550" y="2619375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Logistics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772275" y="2090737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Objectives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6772275" y="2576512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This course is a rigorous introduction to programming using Python. We will focus heavily on: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647950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257300" y="3105150"/>
            <a:ext cx="41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Meetings: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Mon &amp; Wed | 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45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PM - 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5 PM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257300" y="36004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Location: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Room M-B47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257300" y="40957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Credits: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3 (Regular Non-Liberal Arts)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257300" y="45910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Contact Hours: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4 Hours/Week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11931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058025" y="3633787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Algorithmic Design &amp; Logic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058025" y="4129087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Variables &amp; Flow Control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58025" y="4624387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Advanced Data Structures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058025" y="5119687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Writing &amp; Debugging Scripts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71550" y="3105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71550" y="3600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71550" y="40957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71550" y="4591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72275" y="3633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72275" y="4129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772275" y="46243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72275" y="51196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Course Overview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40259"/>
            <a:ext cx="3486150" cy="40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840259"/>
            <a:ext cx="3486150" cy="402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840259"/>
            <a:ext cx="3486150" cy="402520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76300" y="2935634"/>
            <a:ext cx="13001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1E05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1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76300" y="3421409"/>
            <a:ext cx="1524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Sept 14 - Oct 14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76300" y="380806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Algorithmic Design.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We start by translating logic into code, covering variables, conditionals, loops, iterators, and basic functions.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48200" y="2935634"/>
            <a:ext cx="13601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1E05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2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48200" y="3421409"/>
            <a:ext cx="142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Oct 19 - Nov 18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8200" y="380806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Data Structures.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Learn to manage larger datasets within your code by implementing strings, tuples, lists, and complex dictionaries.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420100" y="2935634"/>
            <a:ext cx="136017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1E05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Module 3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0100" y="3421409"/>
            <a:ext cx="1428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Fira Code"/>
                <a:ea typeface="Fira Code"/>
                <a:cs typeface="Fira Code"/>
                <a:sym typeface="Fira Code"/>
              </a:rPr>
              <a:t>Nov 23 - Dec 20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420100" y="380806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Files &amp; Classes.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Master object-oriented programming, persistent file handling, and culminate your learning with a final project presentation.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26888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26888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268884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Course Modules (Fall 2026)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581025" y="1608832"/>
            <a:ext cx="11029950" cy="4488060"/>
          </a:xfrm>
          <a:prstGeom prst="roundRect">
            <a:avLst>
              <a:gd name="adj" fmla="val 0"/>
            </a:avLst>
          </a:prstGeom>
          <a:solidFill>
            <a:srgbClr val="161B22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8"/>
          <p:cNvGraphicFramePr/>
          <p:nvPr/>
        </p:nvGraphicFramePr>
        <p:xfrm>
          <a:off x="581025" y="1608832"/>
          <a:ext cx="11029950" cy="4488000"/>
        </p:xfrm>
        <a:graphic>
          <a:graphicData uri="http://schemas.openxmlformats.org/drawingml/2006/table">
            <a:tbl>
              <a:tblPr firstRow="1" bandRow="1">
                <a:noFill/>
                <a:tableStyleId>{40A3EE34-B5BF-4D82-8C34-A714852E73F8}</a:tableStyleId>
              </a:tblPr>
              <a:tblGrid>
                <a:gridCol w="27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8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6EDF3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6EDF3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Weight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E6EDF3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Quizzes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Short, periodic quizzes testing your grasp of weekly Python concepts and algorithmic logic.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Module Reflections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15%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Brief reflections posted in </a:t>
                      </a:r>
                      <a:r>
                        <a:rPr lang="en-US" sz="1500">
                          <a:latin typeface="Inter"/>
                          <a:ea typeface="Inter"/>
                          <a:cs typeface="Inter"/>
                          <a:sym typeface="Inter"/>
                        </a:rPr>
                        <a:t>BrightSpace</a:t>
                      </a: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 by midnight prior to class.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In-class Exercises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Team-based coding activities where active participation is critical.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Final Project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40%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Write multiple comprehensive Python programs and deliver an oral presentation of a research paper.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5" name="Google Shape;165;p18"/>
          <p:cNvSpPr/>
          <p:nvPr/>
        </p:nvSpPr>
        <p:spPr>
          <a:xfrm>
            <a:off x="581025" y="2396430"/>
            <a:ext cx="275748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338512" y="2396430"/>
            <a:ext cx="165437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992885" y="2396430"/>
            <a:ext cx="661808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81025" y="3472755"/>
            <a:ext cx="275748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338512" y="3472755"/>
            <a:ext cx="165437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992885" y="3472755"/>
            <a:ext cx="661808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81025" y="4244280"/>
            <a:ext cx="275748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338512" y="4244280"/>
            <a:ext cx="165437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992885" y="4244280"/>
            <a:ext cx="661808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81025" y="5015805"/>
            <a:ext cx="275748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338512" y="5015805"/>
            <a:ext cx="165437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992885" y="5015805"/>
            <a:ext cx="661808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Grading Breakdown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28750"/>
            <a:ext cx="1102995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132582" y="5429250"/>
            <a:ext cx="992683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Your final project is the culmination of your work, but consistent attendance and participation in daily exercises form the critical foundation of your grade.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Weight of Assignments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1333500" y="1335583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000250" y="1573708"/>
            <a:ext cx="8572500" cy="10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Academic Integrity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Any code you submit must be your own. While collaboration is encouraged, plagiarism in coding or algorithmic design is a serious offense and will be treated as such.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333500" y="3013769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000250" y="3251894"/>
            <a:ext cx="8572500" cy="10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Policy (ChatGPT, Copilot)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You may use generative AI for note-taking, translation, or understanding errors. However, using it to complete core coding assignments is strictly prohibited.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333500" y="4691955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000250" y="4930080"/>
            <a:ext cx="857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Communication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Check 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BrightSpace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regularly for announcements, assignment details, and supplementary resources. Engage actively in the Discussion Boards.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1333500" y="2813744"/>
            <a:ext cx="9525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333500" y="4491930"/>
            <a:ext cx="9525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333500" y="6170116"/>
            <a:ext cx="9525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1941314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361950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5297685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581025" y="487858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Course Policies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5715000" y="2740372"/>
            <a:ext cx="762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565558" y="3064222"/>
            <a:ext cx="7060882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Introduction to Python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062412" y="4007197"/>
            <a:ext cx="40671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Why we use it and where it thrives.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771525" y="771525"/>
            <a:ext cx="529066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Why </a:t>
            </a:r>
            <a:r>
              <a:rPr lang="en-US" sz="30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Python?</a:t>
            </a:r>
            <a:endParaRPr/>
          </a:p>
        </p:txBody>
      </p:sp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771525" y="2465486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Python is the ultimate beginner-friendly, yet industry-standard language. It powers everything from backend web servers to artificial intelligence.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71525" y="3699569"/>
            <a:ext cx="50387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Its clean syntax emphasizes , allowing us to focus on the core concepts of algorithmic design rather than getting lost in complex syntax rules.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450" y="3699569"/>
            <a:ext cx="142875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28750"/>
            <a:ext cx="1102995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1132582" y="4762500"/>
            <a:ext cx="992683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Python consistently ranks as the most sought-after programming language globally, largely driven by the boom in Data Science, Machine Learning, and AI infrastructure.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Industry Popularity (2026 Index)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33587"/>
            <a:ext cx="34861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33587"/>
            <a:ext cx="34861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33587"/>
            <a:ext cx="348615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876300" y="3128962"/>
            <a:ext cx="267033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Web Development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876300" y="361473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Frameworks like Django and Flask allow developers to build robust, scalable backend servers and REST APIs extremely quickly.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4648200" y="3128962"/>
            <a:ext cx="19102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Science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648200" y="361473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Libraries such as Pandas and NumPy make Python the undisputed king of data analysis, manipulation, and statistical modeling.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420100" y="3128962"/>
            <a:ext cx="25903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Machine Learning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8420100" y="361473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From ChatGPT to recommendation engines, Python is the foundation for AI, utilizing frameworks like TensorFlow and PyTorch.</a:t>
            </a:r>
            <a:endParaRPr/>
          </a:p>
        </p:txBody>
      </p:sp>
      <p:pic>
        <p:nvPicPr>
          <p:cNvPr id="244" name="Google Shape;24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4622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0100" y="24622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Where is Python Used?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2064990" y="2931914"/>
            <a:ext cx="806187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Code is read much more often than it is written.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3871763" y="4497585"/>
            <a:ext cx="44481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— Guido van Rossum (Creator of Python)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1588740" y="3217664"/>
            <a:ext cx="523875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0363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0079239" y="4116585"/>
            <a:ext cx="523875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0363D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The Philosophy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287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 txBox="1"/>
          <p:nvPr/>
        </p:nvSpPr>
        <p:spPr>
          <a:xfrm>
            <a:off x="866775" y="1666875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 Recipe for Computers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An algorithm is simply a step-by-step set of instructions designed to perform a specific task or solve a problem.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866775" y="3124200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Logic Over Syntax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Before we type any code, we must understand the logic. If you can map a process on paper, you can code it in Python.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866775" y="4581525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Efficiency Matters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We won't just learn to solve problems; we will learn to solve them using the fewest steps and resources possible.</a:t>
            </a:r>
            <a:endParaRPr/>
          </a:p>
        </p:txBody>
      </p:sp>
      <p:pic>
        <p:nvPicPr>
          <p:cNvPr id="266" name="Google Shape;266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4382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581025" y="1666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581025" y="3124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581025" y="45815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What is an Algorithm?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/>
          <p:nvPr/>
        </p:nvSpPr>
        <p:spPr>
          <a:xfrm>
            <a:off x="5715000" y="2740372"/>
            <a:ext cx="762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1525428" y="3064222"/>
            <a:ext cx="9141142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Core Programming Concepts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3738562" y="4007197"/>
            <a:ext cx="47148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 building blocks of every application.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581025" y="2428875"/>
            <a:ext cx="5229225" cy="23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0" b="1" i="0" u="none" strike="noStrike" cap="none">
                <a:solidFill>
                  <a:srgbClr val="F1E05A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581025" y="4905375"/>
            <a:ext cx="52292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Indexing starts at Zero.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6381750" y="2705100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Get used to counting differently!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6381750" y="319087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In Python (and most programming languages), the first item in a sequence isn't number 1, it's number 0.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6381750" y="394335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We will dive deep into this concept when we start working with memory management, lists, and strings next week.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The First Rule of Programming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28750"/>
            <a:ext cx="522922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428750"/>
            <a:ext cx="522922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4267200"/>
            <a:ext cx="444817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971550" y="2581275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Variables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971550" y="30670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Think of a variable as a labeled box where we store information. We can look inside the box, change what's inside, or use the contents later.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6772275" y="2619375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Types</a:t>
            </a:r>
            <a:endParaRPr/>
          </a:p>
        </p:txBody>
      </p:sp>
      <p:pic>
        <p:nvPicPr>
          <p:cNvPr id="301" name="Google Shape;30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60985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 txBox="1"/>
          <p:nvPr/>
        </p:nvSpPr>
        <p:spPr>
          <a:xfrm>
            <a:off x="1171575" y="4467225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student_name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2743200" y="4467225"/>
            <a:ext cx="7334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"Alice"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1171575" y="4695825"/>
            <a:ext cx="314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age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1800225" y="4695825"/>
            <a:ext cx="209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9C0FF"/>
                </a:solidFill>
                <a:latin typeface="Fira Code"/>
                <a:ea typeface="Fira Code"/>
                <a:cs typeface="Fira Code"/>
                <a:sym typeface="Fira Code"/>
              </a:rPr>
              <a:t>21</a:t>
            </a:r>
            <a:endParaRPr/>
          </a:p>
        </p:txBody>
      </p:sp>
      <p:pic>
        <p:nvPicPr>
          <p:cNvPr id="306" name="Google Shape;306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264795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7058025" y="31051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Text data ("Hello")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7058025" y="36004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Whole numbers (42)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7058025" y="40957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Decimals (3.14)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7058025" y="4591050"/>
            <a:ext cx="4162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True or False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6772275" y="31051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id="312" name="Google Shape;312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058025" y="2931709"/>
            <a:ext cx="8001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6772275" y="3600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id="314" name="Google Shape;314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58024" y="3402330"/>
            <a:ext cx="9048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6772275" y="40957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id="316" name="Google Shape;316;p2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058024" y="3874597"/>
            <a:ext cx="6953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6772275" y="45910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pic>
        <p:nvPicPr>
          <p:cNvPr id="318" name="Google Shape;318;p2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058024" y="4423583"/>
            <a:ext cx="9048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Variables &amp; Data Types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287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866775" y="2395537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Conditionals (If / Else)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Programs need to make choices based on data. If a user is logged in, show their profile. Else, show the login screen.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866775" y="3852862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Loops (For / While)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Computers are great at repetition. Loops allow us to execute the same block of code hundreds of times without rewriting it.</a:t>
            </a:r>
            <a:endParaRPr/>
          </a:p>
        </p:txBody>
      </p:sp>
      <p:pic>
        <p:nvPicPr>
          <p:cNvPr id="328" name="Google Shape;32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4382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 txBox="1"/>
          <p:nvPr/>
        </p:nvSpPr>
        <p:spPr>
          <a:xfrm>
            <a:off x="581025" y="23955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581025" y="3852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Flow Control (Making Decisions)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1"/>
          <p:cNvSpPr/>
          <p:nvPr/>
        </p:nvSpPr>
        <p:spPr>
          <a:xfrm>
            <a:off x="1333500" y="1335583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2000250" y="1573708"/>
            <a:ext cx="8572500" cy="10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Lists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Ordered, mutable collections of items. Perfect for storing a sequence of data, like a sequence of temperature readings or a list of user IDs.</a:t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1333500" y="3013769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2000250" y="3251894"/>
            <a:ext cx="8572500" cy="10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Tuples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Similar to lists, but they are immutable (they cannot be changed after creation). Used for data that should remain constant, like geographic coordinates.</a:t>
            </a:r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1333500" y="4691955"/>
            <a:ext cx="9525000" cy="1487685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2000250" y="4930080"/>
            <a:ext cx="8572500" cy="10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Dictionaries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Unordered collections that store data in key-value pairs (e.g., {"Name": "Bob", "Age": 25}). Essential for representing structured objects.</a:t>
            </a:r>
            <a:endParaRPr/>
          </a:p>
        </p:txBody>
      </p:sp>
      <p:sp>
        <p:nvSpPr>
          <p:cNvPr id="343" name="Google Shape;343;p31"/>
          <p:cNvSpPr/>
          <p:nvPr/>
        </p:nvSpPr>
        <p:spPr>
          <a:xfrm>
            <a:off x="1333500" y="2813744"/>
            <a:ext cx="9525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1333500" y="4491930"/>
            <a:ext cx="9525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1333500" y="6170116"/>
            <a:ext cx="9525000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1150" y="19413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361950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81150" y="529768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581025" y="487858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Advanced Data Structures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/>
          <p:nvPr/>
        </p:nvSpPr>
        <p:spPr>
          <a:xfrm>
            <a:off x="5715000" y="2740372"/>
            <a:ext cx="762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1090374" y="3064222"/>
            <a:ext cx="10011251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Your Development Environment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4205287" y="4007197"/>
            <a:ext cx="37814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Setting up the tools of the trade.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33587"/>
            <a:ext cx="34861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33587"/>
            <a:ext cx="34861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33587"/>
            <a:ext cx="348615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76300" y="3128962"/>
            <a:ext cx="129016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3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876300" y="36147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The core language interpreter. This is the engine that actually reads your code and translates it into machine instructions.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4648200" y="3128962"/>
            <a:ext cx="12701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VS Code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4648200" y="3614737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Your Integrated Development Environment (IDE). This is where you will write, edit, format, and debug your Python files.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8420100" y="3128962"/>
            <a:ext cx="17702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 &amp; GitHub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8420100" y="361473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Version control. We will briefly touch on how to save "snapshots" of your code and back it up safely to the cloud.</a:t>
            </a:r>
            <a:endParaRPr/>
          </a:p>
        </p:txBody>
      </p:sp>
      <p:pic>
        <p:nvPicPr>
          <p:cNvPr id="372" name="Google Shape;372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4622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4622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4622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The Dev Stack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4"/>
          <p:cNvSpPr txBox="1"/>
          <p:nvPr/>
        </p:nvSpPr>
        <p:spPr>
          <a:xfrm>
            <a:off x="771525" y="771525"/>
            <a:ext cx="529066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3000" b="1" i="0" u="none" strike="noStrike" cap="none">
                <a:solidFill>
                  <a:srgbClr val="58A6FF"/>
                </a:solidFill>
                <a:latin typeface="Inter"/>
                <a:ea typeface="Inter"/>
                <a:cs typeface="Inter"/>
                <a:sym typeface="Inter"/>
              </a:rPr>
              <a:t>Terminal</a:t>
            </a:r>
            <a:endParaRPr/>
          </a:p>
        </p:txBody>
      </p:sp>
      <p:sp>
        <p:nvSpPr>
          <p:cNvPr id="382" name="Google Shape;382;p34"/>
          <p:cNvSpPr txBox="1"/>
          <p:nvPr/>
        </p:nvSpPr>
        <p:spPr>
          <a:xfrm>
            <a:off x="771525" y="2633075"/>
            <a:ext cx="8106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Forget the mouse. Real development happens in the Command Line Interface (CLI).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771525" y="3532000"/>
            <a:ext cx="8823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You will learn to navigate your computer, create folders, and execute your Python scripts entirely through text commands. It's faster, more powerful, and mandatory for cloud deployments.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95550"/>
            <a:ext cx="522922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61319"/>
            <a:ext cx="5229225" cy="2783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3419475"/>
            <a:ext cx="444817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3385244"/>
            <a:ext cx="44481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5"/>
          <p:cNvSpPr txBox="1"/>
          <p:nvPr/>
        </p:nvSpPr>
        <p:spPr>
          <a:xfrm>
            <a:off x="971550" y="2886075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51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Java (The Hard Way)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6772275" y="2851844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FB95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(The Pythonic Way)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6772275" y="4223444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No boilerplate, no curly braces. Just simple, readable instructions.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1171575" y="3619500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public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1838325" y="3619500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2409825" y="3619500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1362075" y="3819525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7B72"/>
                </a:solidFill>
                <a:latin typeface="Fira Code"/>
                <a:ea typeface="Fira Code"/>
                <a:cs typeface="Fira Code"/>
                <a:sym typeface="Fira Code"/>
              </a:rPr>
              <a:t>public static void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3171825" y="3819525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main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2600325" y="4019550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println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3362325" y="4019550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"Hello, World!"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6972300" y="3585269"/>
            <a:ext cx="571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2A8FF"/>
                </a:solidFill>
                <a:latin typeface="Fira Code"/>
                <a:ea typeface="Fira Code"/>
                <a:cs typeface="Fira Code"/>
                <a:sym typeface="Fira Code"/>
              </a:rPr>
              <a:t>print</a:t>
            </a:r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7658100" y="3585269"/>
            <a:ext cx="1714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5D6FF"/>
                </a:solidFill>
                <a:latin typeface="Fira Code"/>
                <a:ea typeface="Fira Code"/>
                <a:cs typeface="Fira Code"/>
                <a:sym typeface="Fira Code"/>
              </a:rPr>
              <a:t>"Hello, World!"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Syntax Comparison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6"/>
          <p:cNvSpPr/>
          <p:nvPr/>
        </p:nvSpPr>
        <p:spPr>
          <a:xfrm>
            <a:off x="5715000" y="2740372"/>
            <a:ext cx="7620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6"/>
          <p:cNvSpPr txBox="1"/>
          <p:nvPr/>
        </p:nvSpPr>
        <p:spPr>
          <a:xfrm>
            <a:off x="2300525" y="3064222"/>
            <a:ext cx="7590948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Expectations &amp; Success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4600575" y="4007197"/>
            <a:ext cx="29908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How to thrive in MAC 108.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287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 txBox="1"/>
          <p:nvPr/>
        </p:nvSpPr>
        <p:spPr>
          <a:xfrm>
            <a:off x="866775" y="2395537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Embrace the Errors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You will see red error text. Often. This is normal. A good developer doesn't avoid errors; they read them and learn to fix them.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866775" y="3852862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Practice Consistently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Programming is like learning a spoken language. Studying 30 minutes a day is far better than cramming for 4 hours on Sunday.</a:t>
            </a:r>
            <a:endParaRPr/>
          </a:p>
        </p:txBody>
      </p:sp>
      <p:pic>
        <p:nvPicPr>
          <p:cNvPr id="422" name="Google Shape;422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4382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7"/>
          <p:cNvSpPr txBox="1"/>
          <p:nvPr/>
        </p:nvSpPr>
        <p:spPr>
          <a:xfrm>
            <a:off x="581025" y="23955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581025" y="38528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How to Succeed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4287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8"/>
          <p:cNvSpPr txBox="1"/>
          <p:nvPr/>
        </p:nvSpPr>
        <p:spPr>
          <a:xfrm>
            <a:off x="866775" y="1819275"/>
            <a:ext cx="4943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1. Introductions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Head to 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BrightSpace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and complete the "Introduce Yourself" prompt by Wednesday evening.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866775" y="2971800"/>
            <a:ext cx="4943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2. IDE Setup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Install Python 3 and Visual Studio Code on your machine. Step-by-step instructions are available in the Week 1 </a:t>
            </a:r>
            <a:r>
              <a:rPr lang="en-US" sz="150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BrightSpace 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module.</a:t>
            </a:r>
            <a:endParaRPr/>
          </a:p>
        </p:txBody>
      </p:sp>
      <p:sp>
        <p:nvSpPr>
          <p:cNvPr id="434" name="Google Shape;434;p38"/>
          <p:cNvSpPr txBox="1"/>
          <p:nvPr/>
        </p:nvSpPr>
        <p:spPr>
          <a:xfrm>
            <a:off x="866775" y="4429125"/>
            <a:ext cx="4943475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3. Reflection #1</a:t>
            </a:r>
            <a:r>
              <a:rPr lang="en-US" sz="15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Post your first brief reflection answering the prompt: "Where do you see algorithms in your daily life?" Due next Monday.</a:t>
            </a:r>
            <a:endParaRPr/>
          </a:p>
        </p:txBody>
      </p:sp>
      <p:pic>
        <p:nvPicPr>
          <p:cNvPr id="435" name="Google Shape;435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4382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8"/>
          <p:cNvSpPr txBox="1"/>
          <p:nvPr/>
        </p:nvSpPr>
        <p:spPr>
          <a:xfrm>
            <a:off x="581025" y="18192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437" name="Google Shape;437;p38"/>
          <p:cNvSpPr txBox="1"/>
          <p:nvPr/>
        </p:nvSpPr>
        <p:spPr>
          <a:xfrm>
            <a:off x="581025" y="29718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438" name="Google Shape;438;p38"/>
          <p:cNvSpPr txBox="1"/>
          <p:nvPr/>
        </p:nvSpPr>
        <p:spPr>
          <a:xfrm>
            <a:off x="581025" y="44291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FB950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/>
          </a:p>
        </p:txBody>
      </p:sp>
      <p:sp>
        <p:nvSpPr>
          <p:cNvPr id="439" name="Google Shape;439;p38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Your To-Do List This Week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2812" y="4222402"/>
            <a:ext cx="52863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9"/>
          <p:cNvSpPr txBox="1"/>
          <p:nvPr/>
        </p:nvSpPr>
        <p:spPr>
          <a:xfrm>
            <a:off x="305276" y="1930747"/>
            <a:ext cx="11581447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447" name="Google Shape;447;p39"/>
          <p:cNvSpPr txBox="1"/>
          <p:nvPr/>
        </p:nvSpPr>
        <p:spPr>
          <a:xfrm>
            <a:off x="581025" y="320709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Let's get ready to write some code.</a:t>
            </a:r>
            <a:endParaRPr/>
          </a:p>
        </p:txBody>
      </p:sp>
      <p:pic>
        <p:nvPicPr>
          <p:cNvPr id="448" name="Google Shape;448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3337" y="445100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</TotalTime>
  <Words>1366</Words>
  <Application>Microsoft Office PowerPoint</Application>
  <PresentationFormat>Widescreen</PresentationFormat>
  <Paragraphs>161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Fira Code</vt:lpstr>
      <vt:lpstr>Inter Light</vt:lpstr>
      <vt:lpstr>Fira Code SemiBold</vt:lpstr>
      <vt:lpstr>Arial</vt:lpstr>
      <vt:lpstr>Inter</vt:lpstr>
      <vt:lpstr>Inter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Belissa Arroyo</cp:lastModifiedBy>
  <cp:revision>1</cp:revision>
  <dcterms:modified xsi:type="dcterms:W3CDTF">2026-09-23T03:59:42Z</dcterms:modified>
</cp:coreProperties>
</file>